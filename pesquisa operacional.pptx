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" charset="1" panose="00000500000000000000"/>
      <p:regular r:id="rId16"/>
    </p:embeddedFont>
    <p:embeddedFont>
      <p:font typeface="Open Sauce Light" charset="1" panose="00000400000000000000"/>
      <p:regular r:id="rId17"/>
    </p:embeddedFont>
    <p:embeddedFont>
      <p:font typeface="Space Mono Bold" charset="1" panose="02000809030000020004"/>
      <p:regular r:id="rId18"/>
    </p:embeddedFont>
    <p:embeddedFont>
      <p:font typeface="Space Mono" charset="1" panose="02000509040000020004"/>
      <p:regular r:id="rId19"/>
    </p:embeddedFont>
    <p:embeddedFont>
      <p:font typeface="Helios Extended" charset="1" panose="02000505040000020004"/>
      <p:regular r:id="rId20"/>
    </p:embeddedFont>
    <p:embeddedFont>
      <p:font typeface="Open Sauc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5254" y="1802745"/>
            <a:ext cx="4534361" cy="6805795"/>
          </a:xfrm>
          <a:custGeom>
            <a:avLst/>
            <a:gdLst/>
            <a:ahLst/>
            <a:cxnLst/>
            <a:rect r="r" b="b" t="t" l="l"/>
            <a:pathLst>
              <a:path h="6805795" w="4534361">
                <a:moveTo>
                  <a:pt x="0" y="0"/>
                </a:moveTo>
                <a:lnTo>
                  <a:pt x="4534362" y="0"/>
                </a:lnTo>
                <a:lnTo>
                  <a:pt x="4534362" y="6805795"/>
                </a:lnTo>
                <a:lnTo>
                  <a:pt x="0" y="680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46" t="0" r="-2504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8867" y="3702611"/>
            <a:ext cx="11770624" cy="2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40"/>
              </a:lnSpc>
            </a:pPr>
            <a:r>
              <a:rPr lang="en-US" sz="15283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RELATÓRIO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3495" y="3207967"/>
            <a:ext cx="2116564" cy="387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  <a:spcBef>
                <a:spcPct val="0"/>
              </a:spcBef>
            </a:pPr>
            <a:r>
              <a:rPr lang="en-US" sz="25452" spc="-509" strike="noStrike" u="none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5" id="5"/>
          <p:cNvSpPr txBox="true"/>
          <p:nvPr/>
        </p:nvSpPr>
        <p:spPr>
          <a:xfrm rot="-10800000">
            <a:off x="14280658" y="3205162"/>
            <a:ext cx="2116564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</a:pPr>
            <a:r>
              <a:rPr lang="en-US" sz="25452" spc="-50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67261" y="5931494"/>
            <a:ext cx="1458699" cy="19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b="true" sz="139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CRIADO POR: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67261" y="6243939"/>
            <a:ext cx="2073053" cy="2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DAYANE DIAS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66723" y="4977523"/>
            <a:ext cx="7354553" cy="32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3"/>
              </a:lnSpc>
            </a:pPr>
            <a:r>
              <a:rPr lang="en-US" sz="2086" spc="1669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ROTA COLETA DE LIXO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67261" y="6560772"/>
            <a:ext cx="2073053" cy="2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EDUARDO CAMARGO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7261" y="6879304"/>
            <a:ext cx="2073053" cy="2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JOHN CLAUDE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67261" y="7196137"/>
            <a:ext cx="2073053" cy="2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FELIPE UEMURA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67261" y="7512971"/>
            <a:ext cx="2073053" cy="2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PEDRO MIGUEL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27973" y="981075"/>
            <a:ext cx="523132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7207" y="5960419"/>
            <a:ext cx="4966059" cy="3403797"/>
          </a:xfrm>
          <a:custGeom>
            <a:avLst/>
            <a:gdLst/>
            <a:ahLst/>
            <a:cxnLst/>
            <a:rect r="r" b="b" t="t" l="l"/>
            <a:pathLst>
              <a:path h="3403797" w="4966059">
                <a:moveTo>
                  <a:pt x="0" y="0"/>
                </a:moveTo>
                <a:lnTo>
                  <a:pt x="4966060" y="0"/>
                </a:lnTo>
                <a:lnTo>
                  <a:pt x="4966060" y="3403797"/>
                </a:lnTo>
                <a:lnTo>
                  <a:pt x="0" y="340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948" r="0" b="-2294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24305" y="5960419"/>
            <a:ext cx="4966059" cy="3403797"/>
          </a:xfrm>
          <a:custGeom>
            <a:avLst/>
            <a:gdLst/>
            <a:ahLst/>
            <a:cxnLst/>
            <a:rect r="r" b="b" t="t" l="l"/>
            <a:pathLst>
              <a:path h="3403797" w="4966059">
                <a:moveTo>
                  <a:pt x="0" y="0"/>
                </a:moveTo>
                <a:lnTo>
                  <a:pt x="4966059" y="0"/>
                </a:lnTo>
                <a:lnTo>
                  <a:pt x="4966059" y="3403797"/>
                </a:lnTo>
                <a:lnTo>
                  <a:pt x="0" y="340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948" r="0" b="-2294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93241" y="5960419"/>
            <a:ext cx="4966059" cy="3403797"/>
          </a:xfrm>
          <a:custGeom>
            <a:avLst/>
            <a:gdLst/>
            <a:ahLst/>
            <a:cxnLst/>
            <a:rect r="r" b="b" t="t" l="l"/>
            <a:pathLst>
              <a:path h="3403797" w="4966059">
                <a:moveTo>
                  <a:pt x="0" y="0"/>
                </a:moveTo>
                <a:lnTo>
                  <a:pt x="4966059" y="0"/>
                </a:lnTo>
                <a:lnTo>
                  <a:pt x="4966059" y="3403797"/>
                </a:lnTo>
                <a:lnTo>
                  <a:pt x="0" y="340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948" r="0" b="-2294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29899">
            <a:off x="2226138" y="6969396"/>
            <a:ext cx="3215213" cy="2086965"/>
          </a:xfrm>
          <a:custGeom>
            <a:avLst/>
            <a:gdLst/>
            <a:ahLst/>
            <a:cxnLst/>
            <a:rect r="r" b="b" t="t" l="l"/>
            <a:pathLst>
              <a:path h="2086965" w="3215213">
                <a:moveTo>
                  <a:pt x="0" y="0"/>
                </a:moveTo>
                <a:lnTo>
                  <a:pt x="3215213" y="0"/>
                </a:lnTo>
                <a:lnTo>
                  <a:pt x="3215213" y="2086966"/>
                </a:lnTo>
                <a:lnTo>
                  <a:pt x="0" y="2086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21163" y="7047454"/>
            <a:ext cx="1930851" cy="1930851"/>
          </a:xfrm>
          <a:custGeom>
            <a:avLst/>
            <a:gdLst/>
            <a:ahLst/>
            <a:cxnLst/>
            <a:rect r="r" b="b" t="t" l="l"/>
            <a:pathLst>
              <a:path h="1930851" w="1930851">
                <a:moveTo>
                  <a:pt x="0" y="0"/>
                </a:moveTo>
                <a:lnTo>
                  <a:pt x="1930850" y="0"/>
                </a:lnTo>
                <a:lnTo>
                  <a:pt x="1930850" y="1930850"/>
                </a:lnTo>
                <a:lnTo>
                  <a:pt x="0" y="193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95364" y="7047454"/>
            <a:ext cx="2019195" cy="2019195"/>
          </a:xfrm>
          <a:custGeom>
            <a:avLst/>
            <a:gdLst/>
            <a:ahLst/>
            <a:cxnLst/>
            <a:rect r="r" b="b" t="t" l="l"/>
            <a:pathLst>
              <a:path h="2019195" w="2019195">
                <a:moveTo>
                  <a:pt x="0" y="0"/>
                </a:moveTo>
                <a:lnTo>
                  <a:pt x="2019196" y="0"/>
                </a:lnTo>
                <a:lnTo>
                  <a:pt x="2019196" y="2019195"/>
                </a:lnTo>
                <a:lnTo>
                  <a:pt x="0" y="2019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1351" y="3431500"/>
            <a:ext cx="7931967" cy="69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3"/>
              </a:lnSpc>
            </a:pPr>
            <a:r>
              <a:rPr lang="en-US" b="true" sz="17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DESAFIO DA LOGÍSTICA URBANA:</a:t>
            </a:r>
            <a:r>
              <a:rPr lang="en-US" sz="176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A COLETA DE LIXO É UM PROBLEMA LOGÍSTICO, COMPLEXO E CARO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1161" y="2191587"/>
            <a:ext cx="7192346" cy="1043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17"/>
              </a:lnSpc>
            </a:pPr>
            <a:r>
              <a:rPr lang="en-US" b="true" sz="693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(O PROBLEMA)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7720" y="6172965"/>
            <a:ext cx="4563542" cy="54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CUSTOS ELEVADOS: COMBUSTÍVEL, MANUTENÇÃO DE FROTA, HORAS DE TRABALHO.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50526" y="4813229"/>
            <a:ext cx="1113617" cy="33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3"/>
              </a:lnSpc>
            </a:pPr>
            <a:r>
              <a:rPr lang="en-US" b="true" sz="17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TÓPICOS: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04817" y="6172965"/>
            <a:ext cx="4563542" cy="54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IMPAC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TO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AMBI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Õ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CO₂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DE ROTA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NÃ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IMIZ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73753" y="6172965"/>
            <a:ext cx="4563542" cy="54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MP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XID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MAI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200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NTO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DE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TA,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TRÁFEGO,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HOR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ÁRIO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185039">
            <a:off x="4419766" y="1931763"/>
            <a:ext cx="1194337" cy="3089948"/>
          </a:xfrm>
          <a:custGeom>
            <a:avLst/>
            <a:gdLst/>
            <a:ahLst/>
            <a:cxnLst/>
            <a:rect r="r" b="b" t="t" l="l"/>
            <a:pathLst>
              <a:path h="3089948" w="1194337">
                <a:moveTo>
                  <a:pt x="1194337" y="0"/>
                </a:moveTo>
                <a:lnTo>
                  <a:pt x="0" y="0"/>
                </a:lnTo>
                <a:lnTo>
                  <a:pt x="0" y="3089948"/>
                </a:lnTo>
                <a:lnTo>
                  <a:pt x="1194337" y="3089948"/>
                </a:lnTo>
                <a:lnTo>
                  <a:pt x="1194337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 l="-4171" t="0" r="-4171" b="-9841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6810766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9144000" y="1028700"/>
            <a:ext cx="8115300" cy="5558541"/>
          </a:xfrm>
          <a:custGeom>
            <a:avLst/>
            <a:gdLst/>
            <a:ahLst/>
            <a:cxnLst/>
            <a:rect r="r" b="b" t="t" l="l"/>
            <a:pathLst>
              <a:path h="5558541" w="8115300">
                <a:moveTo>
                  <a:pt x="0" y="0"/>
                </a:moveTo>
                <a:lnTo>
                  <a:pt x="8115300" y="0"/>
                </a:lnTo>
                <a:lnTo>
                  <a:pt x="8115300" y="5558541"/>
                </a:lnTo>
                <a:lnTo>
                  <a:pt x="0" y="5558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579" t="-253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7720" y="2894605"/>
            <a:ext cx="805693" cy="148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26"/>
              </a:lnSpc>
            </a:pPr>
            <a:r>
              <a:rPr lang="en-US" sz="9688" spc="-193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-10800000">
            <a:off x="7436873" y="2904130"/>
            <a:ext cx="805693" cy="148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26"/>
              </a:lnSpc>
            </a:pPr>
            <a:r>
              <a:rPr lang="en-US" sz="9688" spc="-193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2596" y="3126924"/>
            <a:ext cx="5512680" cy="88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1"/>
              </a:lnSpc>
            </a:pPr>
            <a:r>
              <a:rPr lang="en-US" sz="5817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DATASET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17139" y="3500163"/>
            <a:ext cx="2799591" cy="1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3"/>
              </a:lnSpc>
            </a:pPr>
            <a:r>
              <a:rPr lang="en-US" sz="794" spc="635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FONTE: KAGGLE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2228" y="5253743"/>
            <a:ext cx="6210338" cy="54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FONTE: DATA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KAGG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("R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CO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LETA C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RI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IBA")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GAR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ANT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É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IC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 A LICENÇ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 DE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USO PÚ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BL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IC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95073"/>
            <a:ext cx="9915351" cy="1417869"/>
          </a:xfrm>
          <a:custGeom>
            <a:avLst/>
            <a:gdLst/>
            <a:ahLst/>
            <a:cxnLst/>
            <a:rect r="r" b="b" t="t" l="l"/>
            <a:pathLst>
              <a:path h="1417869" w="9915351">
                <a:moveTo>
                  <a:pt x="0" y="0"/>
                </a:moveTo>
                <a:lnTo>
                  <a:pt x="9915351" y="0"/>
                </a:lnTo>
                <a:lnTo>
                  <a:pt x="9915351" y="1417869"/>
                </a:lnTo>
                <a:lnTo>
                  <a:pt x="0" y="1417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58" t="-273000" r="-63691" b="-79660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732042"/>
            <a:ext cx="9915351" cy="2890761"/>
          </a:xfrm>
          <a:custGeom>
            <a:avLst/>
            <a:gdLst/>
            <a:ahLst/>
            <a:cxnLst/>
            <a:rect r="r" b="b" t="t" l="l"/>
            <a:pathLst>
              <a:path h="2890761" w="9915351">
                <a:moveTo>
                  <a:pt x="0" y="0"/>
                </a:moveTo>
                <a:lnTo>
                  <a:pt x="9915351" y="0"/>
                </a:lnTo>
                <a:lnTo>
                  <a:pt x="9915351" y="2890761"/>
                </a:lnTo>
                <a:lnTo>
                  <a:pt x="0" y="2890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58" t="-133902" r="-63691" b="-33976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91814" y="3670973"/>
            <a:ext cx="5667486" cy="5256217"/>
          </a:xfrm>
          <a:custGeom>
            <a:avLst/>
            <a:gdLst/>
            <a:ahLst/>
            <a:cxnLst/>
            <a:rect r="r" b="b" t="t" l="l"/>
            <a:pathLst>
              <a:path h="5256217" w="5667486">
                <a:moveTo>
                  <a:pt x="0" y="0"/>
                </a:moveTo>
                <a:lnTo>
                  <a:pt x="5667486" y="0"/>
                </a:lnTo>
                <a:lnTo>
                  <a:pt x="5667486" y="5256217"/>
                </a:lnTo>
                <a:lnTo>
                  <a:pt x="0" y="5256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27973" y="981075"/>
            <a:ext cx="523132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178016" y="2913166"/>
            <a:ext cx="7931967" cy="33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3"/>
              </a:lnSpc>
            </a:pPr>
            <a:r>
              <a:rPr lang="en-US" b="true" sz="17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PROBLEMA DE ROTEAMENTO (VRPTW)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4362" y="1206500"/>
            <a:ext cx="6079275" cy="177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30"/>
              </a:lnSpc>
            </a:pPr>
            <a:r>
              <a:rPr lang="en-US" b="true" sz="585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(MODELAGEM MATEMÁTICA)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7549" y="4046305"/>
            <a:ext cx="9157654" cy="31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10"/>
              </a:lnSpc>
              <a:spcBef>
                <a:spcPct val="0"/>
              </a:spcBef>
            </a:pPr>
            <a:r>
              <a:rPr lang="en-US" b="true" sz="159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OBJE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IV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TRAN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FORMAR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PROB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LE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 MU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NDO R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EM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MA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LI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UA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GEM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MÁ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IC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7549" y="4471637"/>
            <a:ext cx="5949157" cy="19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  <a:spcBef>
                <a:spcPct val="0"/>
              </a:spcBef>
            </a:pP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FUNÇÃO OBJETIVO: MINIMIZAR A DISTÂNCIA TOTAL PERCORRIDA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7549" y="4785929"/>
            <a:ext cx="2158173" cy="19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  <a:spcBef>
                <a:spcPct val="0"/>
              </a:spcBef>
            </a:pP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(Σ CUSTO_IJ * X_IJK)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549" y="5883275"/>
            <a:ext cx="9157654" cy="31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10"/>
              </a:lnSpc>
              <a:spcBef>
                <a:spcPct val="0"/>
              </a:spcBef>
            </a:pPr>
            <a:r>
              <a:rPr lang="en-US" b="true" sz="159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CI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PAI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RESTRI</a:t>
            </a:r>
            <a:r>
              <a:rPr lang="en-US" b="true" sz="1591" strike="noStrike" u="non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ÇÕES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7549" y="6308606"/>
            <a:ext cx="9157654" cy="40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  <a:spcBef>
                <a:spcPct val="0"/>
              </a:spcBef>
            </a:pP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CAPACIDAD</a:t>
            </a: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E: A SOMA DAS DEMANDA_KG EM UMA ROTA NÃO PODE EXCEDER A CAPACIDADE DO CAMINHÃO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7549" y="6948147"/>
            <a:ext cx="9157654" cy="40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  <a:spcBef>
                <a:spcPct val="0"/>
              </a:spcBef>
            </a:pP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JAN</a:t>
            </a: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ELAS DE TEMPO: O CAMINHÃO DEVE CHEGAR AO PONTO I DENTRO DA SUA JANELA [INICIO, FIM]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7549" y="7586256"/>
            <a:ext cx="9157654" cy="19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  <a:spcBef>
                <a:spcPct val="0"/>
              </a:spcBef>
            </a:pP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F</a:t>
            </a: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LUXO: TODO PONTO DE COLETA É VISITADO EXATAMENTE UMA VEZ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7549" y="8014848"/>
            <a:ext cx="9157654" cy="19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  <a:spcBef>
                <a:spcPct val="0"/>
              </a:spcBef>
            </a:pP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D</a:t>
            </a:r>
            <a:r>
              <a:rPr lang="en-US" sz="1391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EPÓSITO: TODA ROTA COMEÇA E TERMINA NO DEPÓSITO (PONTO 0, NO CIC)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82504" y="1028700"/>
            <a:ext cx="2652193" cy="2479887"/>
          </a:xfrm>
          <a:custGeom>
            <a:avLst/>
            <a:gdLst/>
            <a:ahLst/>
            <a:cxnLst/>
            <a:rect r="r" b="b" t="t" l="l"/>
            <a:pathLst>
              <a:path h="2479887" w="2652193">
                <a:moveTo>
                  <a:pt x="0" y="0"/>
                </a:moveTo>
                <a:lnTo>
                  <a:pt x="2652193" y="0"/>
                </a:lnTo>
                <a:lnTo>
                  <a:pt x="2652193" y="2479887"/>
                </a:lnTo>
                <a:lnTo>
                  <a:pt x="0" y="2479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543" t="0" r="-10108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71059" y="3931838"/>
            <a:ext cx="5719877" cy="5582922"/>
          </a:xfrm>
          <a:custGeom>
            <a:avLst/>
            <a:gdLst/>
            <a:ahLst/>
            <a:cxnLst/>
            <a:rect r="r" b="b" t="t" l="l"/>
            <a:pathLst>
              <a:path h="5582922" w="5719877">
                <a:moveTo>
                  <a:pt x="0" y="0"/>
                </a:moveTo>
                <a:lnTo>
                  <a:pt x="5719877" y="0"/>
                </a:lnTo>
                <a:lnTo>
                  <a:pt x="5719877" y="5582922"/>
                </a:lnTo>
                <a:lnTo>
                  <a:pt x="0" y="5582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09009" y="1819157"/>
            <a:ext cx="4999183" cy="86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5"/>
              </a:lnSpc>
            </a:pPr>
            <a:r>
              <a:rPr lang="en-US" sz="5595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B&amp;B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30997" y="1610707"/>
            <a:ext cx="774947" cy="140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</a:pPr>
            <a:r>
              <a:rPr lang="en-US" sz="9319" spc="-186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-10800000">
            <a:off x="16484353" y="1601182"/>
            <a:ext cx="774947" cy="140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</a:pPr>
            <a:r>
              <a:rPr lang="en-US" sz="9319" spc="-186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45353" y="2182239"/>
            <a:ext cx="2799591" cy="1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3"/>
              </a:lnSpc>
            </a:pPr>
            <a:r>
              <a:rPr lang="en-US" sz="794" spc="635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BRANCH AND BOUND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20659" y="1873513"/>
            <a:ext cx="6210338" cy="8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QUE É? UM ALGORITMO 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SOLUÇÃ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EXATA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.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ELE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É UM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USCA EM ÁR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VORE "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TELI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GENTE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"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QUE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GARANTE ENCONTRA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A ME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LHOR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Ç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ÃO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POSSÍVEL (DADO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TEM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SUF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IC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IENTE).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76825"/>
            <a:ext cx="1931574" cy="33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3"/>
              </a:lnSpc>
            </a:pPr>
            <a:r>
              <a:rPr lang="en-US" b="true" sz="1764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COMO FUNCIONA?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530310"/>
            <a:ext cx="6210338" cy="8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BRANCH (RAMIFICAR): EXP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LORA SISTEMATICAMENTE A ÁRVORE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 DE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CISÕ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(EX: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"IR PARA O PO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A" OU "IR PARA O PONT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 B"?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675674"/>
            <a:ext cx="6210338" cy="8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BOUND (LIMITAR): CA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LCULA UM LIMITE INFERIOR (LB) – UMA ESTIMATIVA OTIMISTA D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C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TO DAQU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ELA ROTA. (EX: "O MELHOR CENÁRIO POSSÍVEL DAQUI PARA FRENTE 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CUSTARÁ R$ 50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").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52728" y="4087253"/>
            <a:ext cx="6330684" cy="5642222"/>
          </a:xfrm>
          <a:custGeom>
            <a:avLst/>
            <a:gdLst/>
            <a:ahLst/>
            <a:cxnLst/>
            <a:rect r="r" b="b" t="t" l="l"/>
            <a:pathLst>
              <a:path h="5642222" w="6330684">
                <a:moveTo>
                  <a:pt x="0" y="0"/>
                </a:moveTo>
                <a:lnTo>
                  <a:pt x="6330684" y="0"/>
                </a:lnTo>
                <a:lnTo>
                  <a:pt x="6330684" y="5642222"/>
                </a:lnTo>
                <a:lnTo>
                  <a:pt x="0" y="5642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59232" y="3450655"/>
            <a:ext cx="7369536" cy="25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OS CONTEÚDOS QUE MAIS RESSOARAM COM O PÚBLICO DE "NAI NAI" INCLUEM:​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77034" y="2093103"/>
            <a:ext cx="12733932" cy="1027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4"/>
              </a:lnSpc>
            </a:pPr>
            <a:r>
              <a:rPr lang="en-US" sz="68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(IMPLEMENTÇÃO)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902838"/>
            <a:ext cx="1981461" cy="19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PODA (A "MÁGICA"):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81572" y="4689509"/>
            <a:ext cx="4106062" cy="62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MANTEMOS UM LIMITE SUPERIOR (UB) – O CUSTO DA MELHOR ROT</a:t>
            </a: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 COMPLETA ENCONTRADA ATÉ AGORA (EX: 1500 KM).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58867" y="5592849"/>
            <a:ext cx="4106062" cy="10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 PODA: SE A ESTIMATIVA OTIMISTA DE UM RAMO (LB = 1600 KM) JÁ É</a:t>
            </a: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PIOR</a:t>
            </a: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QUE A NOSSA MELHOR ROTA (UB = 1500 KM), NÓS PODAMOS (IGNORAMOS) ESSE RAMO INTEIRO.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234762"/>
            <a:ext cx="1981461" cy="19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LÓGICA NO MAIN.PY: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81572" y="7021433"/>
            <a:ext cx="4106062" cy="62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_GREEDY_HEURISTIC: USADA PARA ENCONTR</a:t>
            </a: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AR O PRIMEIRO UB (UMA SOLUÇÃO RÁPIDA, MAS "BURRA").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81572" y="7924308"/>
            <a:ext cx="4106062" cy="409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_CALCULATE_BOUND: CALCULA O LB (</a:t>
            </a: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NOSSO "ESTIMADOR OTIMISTA").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1572" y="8610041"/>
            <a:ext cx="4106062" cy="62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0"/>
              </a:lnSpc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_IS_FEASIBLE: A FUNÇÃO</a:t>
            </a: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 QUE VERIFICA AS RESTRIÇÕES (CAPACIDADE E JANELA DE TEMPO) A CADA PASSO.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3883" y="2750986"/>
            <a:ext cx="13280234" cy="6507314"/>
          </a:xfrm>
          <a:custGeom>
            <a:avLst/>
            <a:gdLst/>
            <a:ahLst/>
            <a:cxnLst/>
            <a:rect r="r" b="b" t="t" l="l"/>
            <a:pathLst>
              <a:path h="6507314" w="13280234">
                <a:moveTo>
                  <a:pt x="0" y="0"/>
                </a:moveTo>
                <a:lnTo>
                  <a:pt x="13280234" y="0"/>
                </a:lnTo>
                <a:lnTo>
                  <a:pt x="13280234" y="6507314"/>
                </a:lnTo>
                <a:lnTo>
                  <a:pt x="0" y="6507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027973" y="981075"/>
            <a:ext cx="5231327" cy="42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5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231345" y="1413751"/>
            <a:ext cx="11825311" cy="102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4"/>
              </a:lnSpc>
            </a:pPr>
            <a:r>
              <a:rPr lang="en-US" sz="68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(DASHBOARD)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21489" y="7094548"/>
            <a:ext cx="5270332" cy="2582463"/>
          </a:xfrm>
          <a:custGeom>
            <a:avLst/>
            <a:gdLst/>
            <a:ahLst/>
            <a:cxnLst/>
            <a:rect r="r" b="b" t="t" l="l"/>
            <a:pathLst>
              <a:path h="2582463" w="5270332">
                <a:moveTo>
                  <a:pt x="0" y="0"/>
                </a:moveTo>
                <a:lnTo>
                  <a:pt x="5270333" y="0"/>
                </a:lnTo>
                <a:lnTo>
                  <a:pt x="5270333" y="2582463"/>
                </a:lnTo>
                <a:lnTo>
                  <a:pt x="0" y="2582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6714" y="3208781"/>
            <a:ext cx="11301259" cy="5382225"/>
          </a:xfrm>
          <a:custGeom>
            <a:avLst/>
            <a:gdLst/>
            <a:ahLst/>
            <a:cxnLst/>
            <a:rect r="r" b="b" t="t" l="l"/>
            <a:pathLst>
              <a:path h="5382225" w="11301259">
                <a:moveTo>
                  <a:pt x="0" y="0"/>
                </a:moveTo>
                <a:lnTo>
                  <a:pt x="11301259" y="0"/>
                </a:lnTo>
                <a:lnTo>
                  <a:pt x="11301259" y="5382225"/>
                </a:lnTo>
                <a:lnTo>
                  <a:pt x="0" y="5382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27973" y="981075"/>
            <a:ext cx="5231327" cy="42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56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231345" y="1413751"/>
            <a:ext cx="11825311" cy="102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84"/>
              </a:lnSpc>
            </a:pPr>
            <a:r>
              <a:rPr lang="en-US" sz="68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(DASHBOARD)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21489" y="3161156"/>
            <a:ext cx="5270332" cy="82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INPUTS: O USUÁRIO P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ODE SIMULAR CENÁRIOS ALTERANDO A CAPACIDADE DO VEÍCULO E TEMPO LIMITE.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21489" y="4459277"/>
            <a:ext cx="5270332" cy="54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INTERATIVIDADE: O USUÁRIO P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ODE FAZER UPLOAD DO SEU PRÓPRIO CSV.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1489" y="5467350"/>
            <a:ext cx="5270332" cy="111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82"/>
              </a:lnSpc>
              <a:spcBef>
                <a:spcPct val="0"/>
              </a:spcBef>
            </a:pPr>
            <a:r>
              <a:rPr lang="en-US" sz="139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VISUALIZAÇÃO (O MAIS IMPORTANTE): O GRÁFICO DA ÁRV</a:t>
            </a:r>
            <a:r>
              <a:rPr lang="en-US" sz="1391" strike="noStrike" u="non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ORE DE BUSCA B&amp;B, QUE MOSTRA O ALGORITMO "PENSANDO" - EXPLORANDO, PODANDO E ENCONTRANDO SOLUÇÕES.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81356" y="527308"/>
            <a:ext cx="2652193" cy="2479887"/>
          </a:xfrm>
          <a:custGeom>
            <a:avLst/>
            <a:gdLst/>
            <a:ahLst/>
            <a:cxnLst/>
            <a:rect r="r" b="b" t="t" l="l"/>
            <a:pathLst>
              <a:path h="2479887" w="2652193">
                <a:moveTo>
                  <a:pt x="0" y="0"/>
                </a:moveTo>
                <a:lnTo>
                  <a:pt x="2652192" y="0"/>
                </a:lnTo>
                <a:lnTo>
                  <a:pt x="2652192" y="2479886"/>
                </a:lnTo>
                <a:lnTo>
                  <a:pt x="0" y="2479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-543" t="0" r="-10108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6823" y="3298464"/>
            <a:ext cx="11301259" cy="6258072"/>
          </a:xfrm>
          <a:custGeom>
            <a:avLst/>
            <a:gdLst/>
            <a:ahLst/>
            <a:cxnLst/>
            <a:rect r="r" b="b" t="t" l="l"/>
            <a:pathLst>
              <a:path h="6258072" w="11301259">
                <a:moveTo>
                  <a:pt x="0" y="0"/>
                </a:moveTo>
                <a:lnTo>
                  <a:pt x="11301259" y="0"/>
                </a:lnTo>
                <a:lnTo>
                  <a:pt x="11301259" y="6258072"/>
                </a:lnTo>
                <a:lnTo>
                  <a:pt x="0" y="6258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7861" y="1317765"/>
            <a:ext cx="4999183" cy="86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5"/>
              </a:lnSpc>
            </a:pPr>
            <a:r>
              <a:rPr lang="en-US" sz="5595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BUDGET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29849" y="1109315"/>
            <a:ext cx="774947" cy="140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</a:pPr>
            <a:r>
              <a:rPr lang="en-US" sz="9319" spc="-186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-10800000">
            <a:off x="11383204" y="1099790"/>
            <a:ext cx="774947" cy="140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</a:pPr>
            <a:r>
              <a:rPr lang="en-US" sz="9319" spc="-186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44205" y="1680847"/>
            <a:ext cx="2799591" cy="1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3"/>
              </a:lnSpc>
            </a:pPr>
            <a:r>
              <a:rPr lang="en-US" sz="794" spc="635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ORÇAMENTO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45391">
            <a:off x="7794551" y="1398060"/>
            <a:ext cx="2600308" cy="6580612"/>
          </a:xfrm>
          <a:custGeom>
            <a:avLst/>
            <a:gdLst/>
            <a:ahLst/>
            <a:cxnLst/>
            <a:rect r="r" b="b" t="t" l="l"/>
            <a:pathLst>
              <a:path h="6580612" w="2600308">
                <a:moveTo>
                  <a:pt x="0" y="0"/>
                </a:moveTo>
                <a:lnTo>
                  <a:pt x="2600308" y="0"/>
                </a:lnTo>
                <a:lnTo>
                  <a:pt x="2600308" y="6580612"/>
                </a:lnTo>
                <a:lnTo>
                  <a:pt x="0" y="6580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29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8867" y="3702611"/>
            <a:ext cx="11770624" cy="232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340"/>
              </a:lnSpc>
            </a:pPr>
            <a:r>
              <a:rPr lang="en-US" sz="15283">
                <a:solidFill>
                  <a:srgbClr val="E8ECEC"/>
                </a:solidFill>
                <a:latin typeface="Open Sauce"/>
                <a:ea typeface="Open Sauce"/>
                <a:cs typeface="Open Sauce"/>
                <a:sym typeface="Open Sauce"/>
              </a:rPr>
              <a:t>OBRIGADO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68457" y="3205162"/>
            <a:ext cx="2116564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</a:pPr>
            <a:r>
              <a:rPr lang="en-US" sz="25452" spc="-50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5" id="5"/>
          <p:cNvSpPr txBox="true"/>
          <p:nvPr/>
        </p:nvSpPr>
        <p:spPr>
          <a:xfrm rot="-10800000">
            <a:off x="14104389" y="3205162"/>
            <a:ext cx="2116564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43"/>
              </a:lnSpc>
            </a:pPr>
            <a:r>
              <a:rPr lang="en-US" sz="25452" spc="-509">
                <a:solidFill>
                  <a:srgbClr val="E8ECEC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6572" y="295878"/>
            <a:ext cx="2862295" cy="813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1"/>
              </a:lnSpc>
            </a:pPr>
            <a:r>
              <a:rPr lang="en-US" sz="2643">
                <a:solidFill>
                  <a:srgbClr val="E8ECEC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PESQUISA OPERACIONAL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DAG4TZlyi6Y</dc:identifier>
  <dcterms:modified xsi:type="dcterms:W3CDTF">2011-08-01T06:04:30Z</dcterms:modified>
  <cp:revision>1</cp:revision>
  <dc:title>pesquisa operacional</dc:title>
</cp:coreProperties>
</file>